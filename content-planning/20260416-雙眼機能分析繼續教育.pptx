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你學了，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A6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但你用了嗎？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777240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788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C4DC"/>
                </a:solidFill>
              </a:rPr>
              <a:t>雙眼機能分析：從教室到診間的臨床整合工作坊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講師：李錫彥 驗光師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251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D94"/>
                </a:solidFill>
              </a:rPr>
              <a:t>社團法人新北市驗光師公會　｜　繼續教育課程　｜　2小時 / 2學分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3703320"/>
            <a:ext cx="1920240" cy="502920"/>
          </a:xfrm>
          <a:prstGeom prst="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MYOWNVISION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1｜開場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舉手調查：你的診間現況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7955280" cy="749808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33856"/>
            <a:ext cx="475488" cy="47548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33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111556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2E"/>
                </a:solidFill>
              </a:rPr>
              <a:t>我會常規測量遠近斜位（Phoria）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78040" y="1170432"/>
            <a:ext cx="1005840" cy="402336"/>
          </a:xfrm>
          <a:prstGeom prst="rect">
            <a:avLst/>
          </a:prstGeom>
          <a:solidFill>
            <a:srgbClr val="F0F9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117043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</a:rPr>
              <a:t>舉手 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7955280" cy="749808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048256"/>
            <a:ext cx="475488" cy="475488"/>
          </a:xfrm>
          <a:prstGeom prst="ellipse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048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61872" y="202996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2E"/>
                </a:solidFill>
              </a:rPr>
              <a:t>我會常規測量 BI/BO 融像儲備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78040" y="2084832"/>
            <a:ext cx="1005840" cy="402336"/>
          </a:xfrm>
          <a:prstGeom prst="rect">
            <a:avLst/>
          </a:prstGeom>
          <a:solidFill>
            <a:srgbClr val="F0F9FF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208483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91D5"/>
                </a:solidFill>
              </a:rPr>
              <a:t>舉手 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7955280" cy="749808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962656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62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61872" y="294436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2E"/>
                </a:solidFill>
              </a:rPr>
              <a:t>我會常規計算 AC/A 比值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78040" y="2999232"/>
            <a:ext cx="1005840" cy="402336"/>
          </a:xfrm>
          <a:prstGeom prst="rect">
            <a:avLst/>
          </a:prstGeom>
          <a:solidFill>
            <a:srgbClr val="F0F9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299923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</a:rPr>
              <a:t>舉手 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7955280" cy="749808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3877056"/>
            <a:ext cx="475488" cy="475488"/>
          </a:xfrm>
          <a:prstGeom prst="ellipse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877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④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61872" y="385876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2E"/>
                </a:solidFill>
              </a:rPr>
              <a:t>看到數值後，我知道下一步要怎麼做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78040" y="3913632"/>
            <a:ext cx="1005840" cy="402336"/>
          </a:xfrm>
          <a:prstGeom prst="rect">
            <a:avLst/>
          </a:prstGeom>
          <a:solidFill>
            <a:srgbClr val="F0F9FF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391363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6A47"/>
                </a:solidFill>
              </a:rPr>
              <a:t>舉手 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👉  這四題的舉手人數，會呈現遞減趨勢——這不是你的錯，是架構問題。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1｜開場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你是哪一種驗光師？（可以多選）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26517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1D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60120"/>
            <a:ext cx="2651760" cy="54864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0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學術型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🧪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1E2E"/>
                </a:solidFill>
              </a:rPr>
              <a:t>「我知道 Sheard's criterion，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E1E2E"/>
                </a:solidFill>
              </a:rPr>
              <a:t>但我不知道什麼時候用。」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6517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60120"/>
            <a:ext cx="2651760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960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忙碌型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46120" y="16002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⏱️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383280" y="24688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1E2E"/>
                </a:solidFill>
              </a:rPr>
              <a:t>「我沒時間，每位客人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E1E2E"/>
                </a:solidFill>
              </a:rPr>
              <a:t>只有 15 分鐘。」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26517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A6A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960120"/>
            <a:ext cx="2651760" cy="548640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960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迷失型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80760" y="16002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😕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217920" y="24688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1E2E"/>
                </a:solidFill>
              </a:rPr>
              <a:t>「我做了測試，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E1E2E"/>
                </a:solidFill>
              </a:rPr>
              <a:t>但數值看不懂。」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4E80"/>
                </a:solidFill>
              </a:rPr>
              <a:t>💡  今天兩小時，你會同時突破這三種困境。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2｜根本原因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三道牆：知識為什麼用不出來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13816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EA6A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201168" cy="1097280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972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🧱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6A47"/>
                </a:solidFill>
              </a:rPr>
              <a:t>牆一：記憶牆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148132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</a:rPr>
              <a:t>Morgan norms、Sheard、Percival 各自孤立，存在不同角落。考完試幾個月後，就剩零散片段。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813816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67712"/>
            <a:ext cx="20116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59152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23591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牆二：邏輯牆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743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</a:rPr>
              <a:t>缺乏一套決策流程：測了數值，不知道如何組合成診斷。每次都要重新推理，消耗大量腦力。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529584"/>
            <a:ext cx="813816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0091D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529584"/>
            <a:ext cx="201168" cy="109728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21024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63040" y="36210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D5"/>
                </a:solidFill>
              </a:rPr>
              <a:t>牆三：解釋牆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400507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</a:rPr>
              <a:t>患者聽到「外隱斜」或「融像儲備不足」完全無感。你說完，他點頭，但回家照常不照做。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問題不是你不夠努力，而是缺少一張整合地圖。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2｜根本原因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「我沒時間做雙眼視覺」——這是真的嗎？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749040" cy="210312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241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❌  迷思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</a:rPr>
              <a:t>完整學術版分析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70992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</a:rPr>
              <a:t>45–60 分鐘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22128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門診時間不允許，所以完全放棄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5196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A6A47"/>
                </a:solidFill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892040" y="960120"/>
            <a:ext cx="3749040" cy="2103120"/>
          </a:xfrm>
          <a:prstGeom prst="rect">
            <a:avLst/>
          </a:prstGeom>
          <a:solidFill>
            <a:srgbClr val="F0FDF4"/>
          </a:solidFill>
          <a:ln w="19050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0241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✅  現實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3898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</a:rPr>
              <a:t>臨床精簡篩查版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70992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</a:rPr>
              <a:t>8–10 分鐘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029200" y="22128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5 個關鍵測試，覆蓋 80% 臨床決策需求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4E80"/>
                </a:solidFill>
              </a:rPr>
              <a:t>今日目標：掌握這 5 個關鍵測試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1463040" cy="548640"/>
          </a:xfrm>
          <a:prstGeom prst="ellipse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03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遠距斜位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39696" y="3703320"/>
            <a:ext cx="1463040" cy="548640"/>
          </a:xfrm>
          <a:prstGeom prst="ellipse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39696" y="3703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近距斜位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22192" y="3703320"/>
            <a:ext cx="1463040" cy="548640"/>
          </a:xfrm>
          <a:prstGeom prst="ellipse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22192" y="3703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NPC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04688" y="3703320"/>
            <a:ext cx="1463040" cy="548640"/>
          </a:xfrm>
          <a:prstGeom prst="ellipse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04688" y="3703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近距 BO Break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87184" y="3703320"/>
            <a:ext cx="1463040" cy="548640"/>
          </a:xfrm>
          <a:prstGeom prst="ellipse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87184" y="3703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NRA / PRA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2｜根本原因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一個患者，改變了我的想法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3840480" cy="3108960"/>
          </a:xfrm>
          <a:prstGeom prst="rect">
            <a:avLst/>
          </a:prstGeom>
          <a:solidFill>
            <a:srgbClr val="EFF6FF"/>
          </a:solidFill>
          <a:ln w="19050">
            <a:solidFill>
              <a:srgbClr val="0091D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3840480" cy="45720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患者背景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1D5"/>
                </a:solidFill>
              </a:rPr>
              <a:t>年齡：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4630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25 歲男性，軟體工程師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938528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1D5"/>
                </a:solidFill>
              </a:rPr>
              <a:t>主訴：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193852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近距工作 2 小時後頭痛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414016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1D5"/>
                </a:solidFill>
              </a:rPr>
              <a:t>眼鏡：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2414016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剛配好，度數正確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889504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1D5"/>
                </a:solidFill>
              </a:rPr>
              <a:t>視力：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2889504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矯正 1.0 / 1.0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364992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1D5"/>
                </a:solidFill>
              </a:rPr>
              <a:t>常規驗光：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336499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無異常 → 傳統流程說「正常」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914400"/>
            <a:ext cx="4114800" cy="3108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914400"/>
            <a:ext cx="41148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 加做雙眼機能分析後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1463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</a:rPr>
              <a:t>近距斜位：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06440" y="1463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6A47"/>
                </a:solidFill>
              </a:rPr>
              <a:t>10Δ 外斜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193852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</a:rPr>
              <a:t>BO Break：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19385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6A47"/>
                </a:solidFill>
              </a:rPr>
              <a:t>14Δ（正常應 ≥ 21Δ）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2414016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</a:rPr>
              <a:t>Sheard：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06440" y="241401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❌ 不通過（需 ≥ 20Δ）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288950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</a:rPr>
              <a:t>CISS：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06440" y="288950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26 分（≥ 21 = 有症狀）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33649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</a:rPr>
              <a:t>診斷：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06440" y="33649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Convergence Insufficiency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206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視覺訓練 6 週後——症狀完全緩解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雙眼機能分析不是加分題，是解釋症狀的唯一鑰匙。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雙眼機能分析樹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C4DC"/>
                </a:solidFill>
              </a:rPr>
              <a:t>一張圖串起所有知識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0" y="1207008"/>
            <a:ext cx="2194560" cy="640080"/>
          </a:xfrm>
          <a:prstGeom prst="ellipse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120700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雙眼視覺症狀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847088"/>
            <a:ext cx="0" cy="365760"/>
          </a:xfrm>
          <a:prstGeom prst="line">
            <a:avLst/>
          </a:prstGeom>
          <a:noFill/>
          <a:ln w="25400">
            <a:solidFill>
              <a:srgbClr val="2A4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2212848"/>
            <a:ext cx="-2286000" cy="457200"/>
          </a:xfrm>
          <a:prstGeom prst="line">
            <a:avLst/>
          </a:prstGeom>
          <a:noFill/>
          <a:ln w="25400">
            <a:solidFill>
              <a:srgbClr val="00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2212848"/>
            <a:ext cx="182880" cy="45720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212848"/>
            <a:ext cx="2743200" cy="45720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670048"/>
            <a:ext cx="1828800" cy="54864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670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🔵 聚散系統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443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</a:rPr>
              <a:t>Vergence System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0" y="3218688"/>
            <a:ext cx="0" cy="256032"/>
          </a:xfrm>
          <a:prstGeom prst="line">
            <a:avLst/>
          </a:prstGeom>
          <a:noFill/>
          <a:ln w="12700">
            <a:solidFill>
              <a:srgbClr val="0091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3337560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斜位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0" y="3566160"/>
            <a:ext cx="0" cy="256032"/>
          </a:xfrm>
          <a:prstGeom prst="line">
            <a:avLst/>
          </a:prstGeom>
          <a:noFill/>
          <a:ln w="12700">
            <a:solidFill>
              <a:srgbClr val="0091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54480" y="3685032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3685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融像儲備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3913632"/>
            <a:ext cx="0" cy="256032"/>
          </a:xfrm>
          <a:prstGeom prst="line">
            <a:avLst/>
          </a:prstGeom>
          <a:noFill/>
          <a:ln w="12700">
            <a:solidFill>
              <a:srgbClr val="0091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54480" y="4032504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40325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Sheard / Percival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0" y="4261104"/>
            <a:ext cx="0" cy="256032"/>
          </a:xfrm>
          <a:prstGeom prst="line">
            <a:avLst/>
          </a:prstGeom>
          <a:noFill/>
          <a:ln w="12700">
            <a:solidFill>
              <a:srgbClr val="0091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54480" y="4379976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43799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NPC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0" y="2670048"/>
            <a:ext cx="1828800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2670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🟡 調節系統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0" y="29443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</a:rPr>
              <a:t>Accommodation System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0" y="3218688"/>
            <a:ext cx="0" cy="256032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23360" y="3337560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3566160"/>
            <a:ext cx="0" cy="256032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23360" y="3685032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0" y="3685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NRA / PRA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913632"/>
            <a:ext cx="0" cy="256032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23360" y="4032504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0" y="40325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MEM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4261104"/>
            <a:ext cx="0" cy="256032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0" y="4379976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43799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Flipper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0" y="2670048"/>
            <a:ext cx="18288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2670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🔴 雙眼協調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29443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</a:rPr>
              <a:t>Binocular Coordination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315200" y="3218688"/>
            <a:ext cx="0" cy="256032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83680" y="3337560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AC/A 比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15200" y="3566160"/>
            <a:ext cx="0" cy="256032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0" y="3685032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3685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CA/C 比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315200" y="3913632"/>
            <a:ext cx="0" cy="256032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83680" y="4032504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40325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處置策略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37D94"/>
                </a:solidFill>
              </a:rPr>
              <a:t>三個系統彼此制衡：改動一個，另外兩個都會變。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3｜架構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91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系統一：聚散系統（Vergence）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測試項目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正常值（Morgan）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異常警示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D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遠距斜位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正位 ± 2Δ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&gt; 5Δ exo 或 &gt; 2Δ eso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近距斜位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6Δ exo ± 3Δ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&gt; 9Δ exo 或任何 eso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近距 BI Break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21 ± 4Δ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 12Δ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近距 BO Break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21 ± 6Δ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 15Δ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NPC（破裂）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 5cm（&lt; 40歲）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&gt; 7cm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337560"/>
            <a:ext cx="822960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0091D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34015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1D5"/>
                </a:solidFill>
              </a:rPr>
              <a:t>⭐  臨床珍珠（互動快問快答）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</a:rPr>
              <a:t>患者近距 8Δ 外斜，需要多少 BO Break 才通過 Sheard's Criterion？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0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91D5"/>
                </a:solidFill>
              </a:rPr>
              <a:t>答案：16Δ（= 2 × 8）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361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口訣：外斜要有「兩倍 BO」才能撐住。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3｜架構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系統二：調節系統（Accommodation）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02336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402336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AA（調節幅度）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2161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0E8FF"/>
                </a:solidFill>
              </a:rPr>
              <a:t>「天花板」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5087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Hofstetter 均值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18.5 − 0.3 × 年齡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02336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1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60120"/>
            <a:ext cx="4023360" cy="45720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NRA / PRA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2161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0E8FF"/>
                </a:solidFill>
              </a:rPr>
              <a:t>「鬆弛 / 施力上限」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15087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NRA 正常：+2.00D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PRA 正常：−2.37D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402336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34640"/>
            <a:ext cx="40233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MEM（動態視網膜鏡）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0906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0E8FF"/>
                </a:solidFill>
              </a:rPr>
              <a:t>「當下調節位置」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3832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正常：+0.25 ~ +0.75D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（工作距離）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834640"/>
            <a:ext cx="402336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834640"/>
            <a:ext cx="402336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Flipper（靈活度）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0906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0E8FF"/>
                </a:solidFill>
              </a:rPr>
              <a:t>「調節速度」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33832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正常：12 cpm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（雙眼 ±2.00D）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口訣：NRA 鬆、PRA 緊、MEM 看位置、AA 定天花板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3｜架構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系統三：雙眼協調（AC/A）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2743200" cy="502920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97280"/>
            <a:ext cx="27432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097280"/>
            <a:ext cx="27432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低 AC/A（&lt; 3/1）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正常（3–5/1）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高 AC/A（&gt; 7/1）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719072"/>
            <a:ext cx="2743200" cy="2286000"/>
          </a:xfrm>
          <a:prstGeom prst="rect">
            <a:avLst/>
          </a:prstGeom>
          <a:solidFill>
            <a:srgbClr val="F5F7FA"/>
          </a:solidFill>
          <a:ln w="19050">
            <a:solidFill>
              <a:srgbClr val="EA6A4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6A47"/>
                </a:solidFill>
              </a:rPr>
              <a:t>集合不足傾向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240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稜鏡效果有限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7157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視覺訓練優先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1912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加負鏡刺激較少集合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719072"/>
            <a:ext cx="2743200" cy="2286000"/>
          </a:xfrm>
          <a:prstGeom prst="rect">
            <a:avLst/>
          </a:prstGeom>
          <a:solidFill>
            <a:srgbClr val="F5F7FA"/>
          </a:solidFill>
          <a:ln w="19050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9184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處置彈性大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2240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稜鏡、訓練均可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27157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根據症狀決策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31912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預後較佳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1719072"/>
            <a:ext cx="2743200" cy="2286000"/>
          </a:xfrm>
          <a:prstGeom prst="rect">
            <a:avLst/>
          </a:prstGeom>
          <a:solidFill>
            <a:srgbClr val="F5F7FA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3504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調節性集合過強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35040" y="2240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考慮加 ADD（正鏡）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27157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稜鏡或訓練均有效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31912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近距 eso 主要機制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2519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Gradient 法（臨床首選）：加 −1.00D 鏡片 → 再測近距斜位 → 差值即為 AC/A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4｜臨床深度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斜位的臨床意義：數字背後的故事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554480" cy="38404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測試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914400"/>
            <a:ext cx="1554480" cy="38404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9144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正常值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914400"/>
            <a:ext cx="2103120" cy="38404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9144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輕度異常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914400"/>
            <a:ext cx="3017520" cy="38404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91440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臨床處置方向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316736"/>
            <a:ext cx="1554480" cy="457200"/>
          </a:xfrm>
          <a:prstGeom prst="rect">
            <a:avLst/>
          </a:prstGeom>
          <a:solidFill>
            <a:srgbClr val="F5F7F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3167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遠距斜位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03120" y="1316736"/>
            <a:ext cx="1554480" cy="457200"/>
          </a:xfrm>
          <a:prstGeom prst="rect">
            <a:avLst/>
          </a:prstGeom>
          <a:solidFill>
            <a:srgbClr val="F5F7F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13167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正位 ±2Δ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49040" y="1316736"/>
            <a:ext cx="2103120" cy="457200"/>
          </a:xfrm>
          <a:prstGeom prst="rect">
            <a:avLst/>
          </a:prstGeom>
          <a:solidFill>
            <a:srgbClr val="F5F7F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131673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&gt;5Δ exo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0" y="1316736"/>
            <a:ext cx="3017520" cy="457200"/>
          </a:xfrm>
          <a:prstGeom prst="rect">
            <a:avLst/>
          </a:prstGeom>
          <a:solidFill>
            <a:srgbClr val="F5F7F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131673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評估 BI 儲備；排除高度遠視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1792224"/>
            <a:ext cx="15544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179222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近距斜位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103120" y="1792224"/>
            <a:ext cx="15544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179222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6Δ exo ±3Δ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749040" y="1792224"/>
            <a:ext cx="21031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4760" y="179222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&gt;9Δ exo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0" y="1792224"/>
            <a:ext cx="3017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179222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加測 NPC；Sheard 計算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267712"/>
            <a:ext cx="1554480" cy="457200"/>
          </a:xfrm>
          <a:prstGeom prst="rect">
            <a:avLst/>
          </a:prstGeom>
          <a:solidFill>
            <a:srgbClr val="F5F7F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2677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遠距內斜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103120" y="2267712"/>
            <a:ext cx="1554480" cy="457200"/>
          </a:xfrm>
          <a:prstGeom prst="rect">
            <a:avLst/>
          </a:prstGeom>
          <a:solidFill>
            <a:srgbClr val="F5F7F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48840" y="22677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&lt;2Δ eso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749040" y="2267712"/>
            <a:ext cx="2103120" cy="457200"/>
          </a:xfrm>
          <a:prstGeom prst="rect">
            <a:avLst/>
          </a:prstGeom>
          <a:solidFill>
            <a:srgbClr val="F5F7F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94760" y="22677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&gt;2Δ eso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943600" y="2267712"/>
            <a:ext cx="3017520" cy="457200"/>
          </a:xfrm>
          <a:prstGeom prst="rect">
            <a:avLst/>
          </a:prstGeom>
          <a:solidFill>
            <a:srgbClr val="F5F7F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9320" y="22677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排除 Div. Insuff.；檢查遠視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2743200"/>
            <a:ext cx="15544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2743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近距內斜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103120" y="2743200"/>
            <a:ext cx="15544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48840" y="2743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≤2Δ eso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749040" y="2743200"/>
            <a:ext cx="21031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9476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&gt;2Δ eso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943600" y="2743200"/>
            <a:ext cx="3017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8932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計算 AC/A；考慮 ADD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" y="3291840"/>
            <a:ext cx="8229600" cy="150876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335584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🏋️  互動：案例配對（2 分鐘同桌討論）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94360" y="36850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① 近距 12Δ exo，NPC 8cm，BO Break 10Δ → ?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94360" y="4023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② 遠距 6Δ exo，近距 6Δ exo，BI/BO 正常 → ?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94360" y="43616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③ 遠距 8Δ eso，近距 2Δ eso，高 AC/A → ?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4｜臨床深度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Sheard's Criterion：最常用的判斷準則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280160"/>
          </a:xfrm>
          <a:prstGeom prst="rect">
            <a:avLst/>
          </a:prstGeom>
          <a:solidFill>
            <a:srgbClr val="EFF6FF"/>
          </a:solidFill>
          <a:ln w="25400">
            <a:solidFill>
              <a:srgbClr val="0091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91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 Break（聚合儲備）  ≥  2 × 外斜量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若不通過 → 患者有症狀風險，需介入處置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931920" cy="13716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41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4E80"/>
                </a:solidFill>
              </a:rPr>
              <a:t>稜鏡計算公式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</a:rPr>
              <a:t>P = (2/3 × 斜位) − (1/3 × BO Break)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154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例：8Δ exo，BO Break 14Δ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→ (2/3×8)−(1/3×14) = 0.7Δ BI prism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2377440"/>
            <a:ext cx="4023360" cy="13716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441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4E80"/>
                </a:solidFill>
              </a:rPr>
              <a:t>不通過時的處置選項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28163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① 稜鏡補正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281635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BI prism 緩解外斜壓力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31363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② 視覺訓練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313639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增加 BO 儲備量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34564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③ 正鏡補正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345643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高 AC/A 時優先考慮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9592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</a:rPr>
              <a:t>⚡  現場計算（1 分鐘）：近距 10Δ exo，BO Break 18Δ。通過了嗎？需要稜鏡嗎？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40740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</a:rPr>
              <a:t>答：需要 ≥20Δ，18Δ 不通過。稜鏡 = (2/3×10)−(1/3×18) = 6.7−6 = 0.7Δ BI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4｜臨床深度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Percival's Criterion：平衡不了就會累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ect">
            <a:avLst/>
          </a:prstGeom>
          <a:solidFill>
            <a:srgbClr val="EFF6FF"/>
          </a:solidFill>
          <a:ln w="25400">
            <a:solidFill>
              <a:srgbClr val="0091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91D5"/>
                </a:solidFill>
              </a:rPr>
              <a:t>較小儲備（BI 或 BO Break）  ≥  1/2 × 較大儲備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60520" y="20574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⚖️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474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2468880"/>
            <a:ext cx="3474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96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1D5"/>
                </a:solidFill>
              </a:rPr>
              <a:t>BI 儲備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2496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6A47"/>
                </a:solidFill>
              </a:rPr>
              <a:t>BO 儲備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840480" cy="118872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9900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2E"/>
                </a:solidFill>
              </a:rPr>
              <a:t>BI 6Δ / BO 24Δ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340156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6 &lt; 12（24/2） → ❌ 不通過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3840480" cy="1188720"/>
          </a:xfrm>
          <a:prstGeom prst="rect">
            <a:avLst/>
          </a:prstGeom>
          <a:solidFill>
            <a:srgbClr val="F0FDF4"/>
          </a:solidFill>
          <a:ln w="1905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29900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2E"/>
                </a:solidFill>
              </a:rPr>
              <a:t>BI 12Δ / BO 20Δ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340156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12 ≥ 10（20/2） → ✅ 通過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Sheard 管「夠不夠強」，Percival 管「夠不夠均衡」——兩個都要過。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常見於：手術後殘餘不平衡、過度 BO 訓練（遊戲成癮者）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4｜臨床深度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AC/A 比：Gradient 法（臨床首選）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88720" y="960120"/>
            <a:ext cx="740664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005840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</a:rPr>
              <a:t>測量基礎近距斜位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3258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例：6Δ exo（外斜）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0664" y="1618488"/>
            <a:ext cx="0" cy="2103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920240"/>
            <a:ext cx="566928" cy="566928"/>
          </a:xfrm>
          <a:prstGeom prst="ellipse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20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1828800"/>
            <a:ext cx="740664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1874520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</a:rPr>
              <a:t>加 −1.00D 鏡片再測斜位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21945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91D5"/>
                </a:solidFill>
              </a:rPr>
              <a:t>例：9Δ exo（增加）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" y="2487168"/>
            <a:ext cx="0" cy="2103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88920"/>
            <a:ext cx="566928" cy="5669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88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88720" y="2697480"/>
            <a:ext cx="740664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2743200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</a:rPr>
              <a:t>計算差值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0632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</a:rPr>
              <a:t>9 − 6 = 3Δ（集合增加量）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0664" y="3355848"/>
            <a:ext cx="0" cy="2103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65760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57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88720" y="3566160"/>
            <a:ext cx="740664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5880" y="3611880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</a:rPr>
              <a:t>AC/A = 差值 ÷ 鏡片度數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39319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766E"/>
                </a:solidFill>
              </a:rPr>
              <a:t>3 ÷ 1 = 3/1（正常）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82296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54456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正常 AC/A：3/1 ~ 5/1　｜　低（&lt;3）→ 訓練優先　｜　高（&gt;7）→ ADD / 稜鏡優先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4｜臨床深度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NPC（近點集合）：被遺忘的重要指標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年齡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NPC 破裂點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NPC 回復點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說明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 40 歲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 5cm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 7cm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正常值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40–50 歲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 6cm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 8cm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老花前期，略退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50–60 歲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 7cm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 9cm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老花期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&gt; 60 歲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 8cm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 10cm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老花期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2880360"/>
            <a:ext cx="8229600" cy="521208"/>
          </a:xfrm>
          <a:prstGeom prst="rect">
            <a:avLst/>
          </a:prstGeom>
          <a:solidFill>
            <a:srgbClr val="F5F7FA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29260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</a:rPr>
              <a:t>連測三次，取後兩次平均——第一次通常最好（練習效應）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3474720"/>
            <a:ext cx="8229600" cy="521208"/>
          </a:xfrm>
          <a:prstGeom prst="rect">
            <a:avLst/>
          </a:prstGeom>
          <a:solidFill>
            <a:srgbClr val="F5F7FA"/>
          </a:solidFill>
          <a:ln w="6350">
            <a:solidFill>
              <a:srgbClr val="EA6A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05840" y="35204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</a:rPr>
              <a:t>高 NPC + 低 BO Break = Convergence Insufficiency 最強指標組合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4069080"/>
            <a:ext cx="8229600" cy="521208"/>
          </a:xfrm>
          <a:prstGeom prst="rect">
            <a:avLst/>
          </a:prstGeom>
          <a:solidFill>
            <a:srgbClr val="F5F7FA"/>
          </a:solidFill>
          <a:ln w="6350">
            <a:solidFill>
              <a:srgbClr val="0091D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05840" y="41148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</a:rPr>
              <a:t>30 秒測試，覆蓋最關鍵的 CI 篩查——你的診間沒有理由跳過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solidFill>
            <a:srgbClr val="FFF7ED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468172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🔬  互動：兩兩配對，現場互測 NPC，比較雙方數值（3 分鐘）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4｜臨床深度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CISS 問卷：讓患者的症狀說話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2240280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≤ 15 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4358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正常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914400"/>
            <a:ext cx="224028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91440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16–20 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124358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邊界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914400"/>
            <a:ext cx="361188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91440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≥ 21 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243584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有症狀 CI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17190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4E80"/>
                </a:solidFill>
              </a:rPr>
              <a:t>15 題症狀（5 分制）：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103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近距閱讀時眼睛疲勞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514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複視（間歇性）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字會移動或跳動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103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前額或眼眶頭痛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2514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需要重讀同一行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2926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看完後字變模糊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0156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564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4E80"/>
                </a:solidFill>
              </a:rPr>
              <a:t>臨床三用途：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76472"/>
            <a:ext cx="2651760" cy="868680"/>
          </a:xfrm>
          <a:prstGeom prst="rect">
            <a:avLst/>
          </a:prstGeom>
          <a:solidFill>
            <a:srgbClr val="F5F7FA"/>
          </a:solidFill>
          <a:ln w="19050">
            <a:solidFill>
              <a:srgbClr val="0091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8221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1D5"/>
                </a:solidFill>
              </a:rPr>
              <a:t>初診篩查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160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識別有雙眼症狀患者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91840" y="3776472"/>
            <a:ext cx="2651760" cy="868680"/>
          </a:xfrm>
          <a:prstGeom prst="rect">
            <a:avLst/>
          </a:prstGeom>
          <a:solidFill>
            <a:srgbClr val="F5F7FA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8221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治療前基準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4160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建立分數作為對照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3776472"/>
            <a:ext cx="2651760" cy="868680"/>
          </a:xfrm>
          <a:prstGeom prst="rect">
            <a:avLst/>
          </a:prstGeom>
          <a:solidFill>
            <a:srgbClr val="F5F7FA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8221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療效追蹤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4160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分數下降 = 治療有效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敏感度 72%，特異度 81%（Rouse et al., 2004）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4｜臨床深度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Norms 完整速查表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886200"/>
        </p:xfrm>
        <a:graphic>
          <a:graphicData uri="http://schemas.openxmlformats.org/drawingml/2006/table">
            <a:tbl>
              <a:tblPr/>
              <a:tblGrid>
                <a:gridCol w="1920240"/>
                <a:gridCol w="2011680"/>
                <a:gridCol w="1737360"/>
                <a:gridCol w="274320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測試項目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正常均值 / 範圍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文獻來源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異常閾值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6A4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遠距斜位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正位 ± 2Δ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Morgan 1944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&gt; 5Δ exo 或 &gt; 2Δ eso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近距斜位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6Δ exo ± 3Δ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Morgan 1944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&gt; 9Δ exo 或 &gt; 2Δ eso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近距 BI Break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21 ± 4Δ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Wajuihian 2018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&lt; 12Δ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近距 BO Blur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17 ± 5Δ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Wajuihian 2018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&lt; 10Δ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近距 BO Break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21 ± 6Δ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Wajuihian 2018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&lt; 15Δ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遠距 BI Break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7 ± 3Δ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Morgan; COMET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&lt; 4Δ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遠距 BO Break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18 ± 5Δ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Morgan; COMET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&lt; 11Δ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NPC（破裂）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≤ 5cm（&lt; 40歲）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CITT 2008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&gt; 7cm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NRA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+2.00 ± 0.50D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Sheedy &amp; Saladin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&lt; +1.50D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PRA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−2.37 ± 1.00D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Sheedy &amp; Saladin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&gt; −1.50D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MEM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+0.50D（+0.25~+0.75）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Birnbaum 1993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&lt; 0D 或 &gt; +1.00D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Flipper（雙眼）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12 ± 5 cpm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Zellers 1984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&lt; 8 cpm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📌  建議印出此表，護貝後貼在診間。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4｜臨床深度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調節四兄弟：AA、NRA、PRA、MEM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690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406908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AA（調節幅度）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0E8FF"/>
                </a:solidFill>
              </a:rPr>
              <a:t>天花板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5087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Hofstetter 均值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18.5 − 0.3 × 年齡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異常：低均值 ≥ 2D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0690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1D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60120"/>
            <a:ext cx="4069080" cy="47548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87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NRA（鬆弛上限）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2344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0E8FF"/>
                </a:solidFill>
              </a:rPr>
              <a:t>能放到哪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15087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正常：+2.00 ± 0.50D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異常：&lt; +1.50D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→ 無法充分放鬆調節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40690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EA6A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88920"/>
            <a:ext cx="4069080" cy="475488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163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PRA（施力上限）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0632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0E8FF"/>
                </a:solidFill>
              </a:rPr>
              <a:t>能用到哪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" y="33375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正常：−2.37 ± 1.00D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異常：&gt; −1.50D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→ 長時間近距工作受限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788920"/>
            <a:ext cx="40690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788920"/>
            <a:ext cx="406908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8163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MEM（當下位置）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0632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0E8FF"/>
                </a:solidFill>
              </a:rPr>
              <a:t>現在在哪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33375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正常：+0.25 ~ +0.75D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&gt; +1.00D → 調節落後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&lt; 0D → 調節痙攣疑慮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口訣：NRA 鬆、PRA 緊、MEM 看位置、AA 定天花板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4｜臨床深度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三大異常模式：臨床最常見組合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0120"/>
            <a:ext cx="2697480" cy="38862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0120"/>
            <a:ext cx="2697480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8755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集合不足（CI）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3258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0EEFF"/>
                </a:solidFill>
              </a:rPr>
              <a:t>4–8% 一般人群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93776" y="16642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近距外斜 &gt; 9Δ（遠距正常）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" y="20482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NPC &gt; 5cm（多次測量）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76" y="24323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BO Break &lt; 15Δ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3776" y="28163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CISS ≥ 21 分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3383280"/>
            <a:ext cx="269748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47472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處置：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69848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</a:rPr>
              <a:t>視覺訓練優先（Pencil Push-up、Brock String）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18688" y="960120"/>
            <a:ext cx="2697480" cy="38862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18688" y="960120"/>
            <a:ext cx="269748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98755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調節不足（AI）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10128" y="13258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0EEFF"/>
                </a:solidFill>
              </a:rPr>
              <a:t>近視高發地區常見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28416" y="16642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AA 低均值 ≥ 2D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28416" y="20482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MEM &gt; +1.00D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28416" y="24323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PRA &lt; −1.50D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28416" y="28163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Flipper &lt; 8 cpm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18688" y="3383280"/>
            <a:ext cx="269748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347472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處置：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04488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</a:rPr>
              <a:t>調節訓練 + 排除高度遠視殘留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53328" y="960120"/>
            <a:ext cx="2697480" cy="3886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1D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53328" y="960120"/>
            <a:ext cx="2697480" cy="621792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98755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基本外斜（Basic Exo）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44768" y="13258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0EEFF"/>
                </a:solidFill>
              </a:rPr>
              <a:t>最常見斜位類型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63056" y="16642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遠近斜位相近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63056" y="20482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中等 AC/A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63056" y="24323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Sheard/Percival 需計算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63056" y="28163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多數代償良好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53328" y="3383280"/>
            <a:ext cx="2697480" cy="4572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347472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1D5"/>
                </a:solidFill>
              </a:rPr>
              <a:t>處置：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39128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</a:rPr>
              <a:t>儲備足 → 觀察；不足 → 稜鏡或訓練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4｜整合練習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整合案例演練：32 歲 UI 設計師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32688"/>
            <a:ext cx="3931920" cy="3383280"/>
          </a:xfrm>
          <a:prstGeom prst="rect">
            <a:avLst/>
          </a:prstGeom>
          <a:solidFill>
            <a:srgbClr val="EFF6FF"/>
          </a:solidFill>
          <a:ln w="19050">
            <a:solidFill>
              <a:srgbClr val="0091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32688"/>
            <a:ext cx="3931920" cy="38404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326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患者資料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1D5"/>
                </a:solidFill>
              </a:rPr>
              <a:t>屈光：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138988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</a:rPr>
              <a:t>OU −2.00DS，矯正視力 1.0/1.0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719072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1D5"/>
                </a:solidFill>
              </a:rPr>
              <a:t>近距斜位：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171907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</a:rPr>
              <a:t>10Δ exo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048256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1D5"/>
                </a:solidFill>
              </a:rPr>
              <a:t>遠距斜位：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83080" y="204825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</a:rPr>
              <a:t>2Δ exo（正常）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37744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1D5"/>
                </a:solidFill>
              </a:rPr>
              <a:t>NPC：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83080" y="237744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</a:rPr>
              <a:t>7cm（偏高）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70662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1D5"/>
                </a:solidFill>
              </a:rPr>
              <a:t>BO Break（近）：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270662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</a:rPr>
              <a:t>13Δ（低）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035808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1D5"/>
                </a:solidFill>
              </a:rPr>
              <a:t>BI Break（近）：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83080" y="303580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</a:rPr>
              <a:t>20Δ（正常）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364992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1D5"/>
                </a:solidFill>
              </a:rPr>
              <a:t>NRA / PRA：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83080" y="336499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</a:rPr>
              <a:t>+2.00D / −1.25D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694176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1D5"/>
                </a:solidFill>
              </a:rPr>
              <a:t>MEM：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83080" y="369417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</a:rPr>
              <a:t>+0.75D（稍高）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02336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1D5"/>
                </a:solidFill>
              </a:rPr>
              <a:t>CISS：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402336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</a:rPr>
              <a:t>26 分（症狀明顯）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932688"/>
            <a:ext cx="4114800" cy="3383280"/>
          </a:xfrm>
          <a:prstGeom prst="rect">
            <a:avLst/>
          </a:prstGeom>
          <a:solidFill>
            <a:srgbClr val="F0FDF4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932688"/>
            <a:ext cx="411480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93268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🔍  分析流程（小組競賽）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1435608"/>
            <a:ext cx="502920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43560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57800" y="138988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聚散系統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99632" y="138988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</a:rPr>
              <a:t>近距大量外斜 + NPC 高 + BO 不足 → CI 模式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1911096"/>
            <a:ext cx="502920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91109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57800" y="1865376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Sheard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99632" y="186537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</a:rPr>
              <a:t>10Δ 需 BO ≥ 20Δ，實測 13Δ → ❌ 不通過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2386584"/>
            <a:ext cx="502920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238658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257800" y="2340864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調節系統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99632" y="234086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</a:rPr>
              <a:t>PRA 偏低 → 調節施力受限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2862072"/>
            <a:ext cx="502920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286207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257800" y="281635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AC/A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99632" y="281635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</a:rPr>
              <a:t>低正常（3/1）→ 訓練優先，稜鏡效果有限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3337560"/>
            <a:ext cx="502920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33756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257800" y="329184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診斷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99632" y="32918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</a:rPr>
              <a:t>CI + 輕度 Accommodative Lag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3813048"/>
            <a:ext cx="502920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38130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6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257800" y="376732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處置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99632" y="376732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</a:rPr>
              <a:t>視覺訓練 6 週 + 工作距離調整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" y="4453128"/>
            <a:ext cx="822960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" y="44805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06"/>
                </a:solidFill>
              </a:rPr>
              <a:t>🏆  各桌獨立診斷，5 分鐘後分享答案——最接近者獲獎！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MYOWNVISION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8090"/>
                </a:solidFill>
              </a:rPr>
              <a:t>雙眼機能分析平台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77240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65960"/>
            <a:ext cx="2651760" cy="914400"/>
          </a:xfrm>
          <a:prstGeom prst="rect">
            <a:avLst/>
          </a:prstGeom>
          <a:solidFill>
            <a:srgbClr val="0D1F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39112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2057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一頁輸入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3957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ABB"/>
                </a:solidFill>
              </a:rPr>
              <a:t>斜位、融像、調節、CISS 全整合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66160" y="1965960"/>
            <a:ext cx="2651760" cy="914400"/>
          </a:xfrm>
          <a:prstGeom prst="rect">
            <a:avLst/>
          </a:prstGeom>
          <a:solidFill>
            <a:srgbClr val="0D1F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039112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0" y="2057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即時計算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23957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ABB"/>
                </a:solidFill>
              </a:rPr>
              <a:t>Sheard、Percival、AC/A 自動顯示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0" y="1965960"/>
            <a:ext cx="2651760" cy="914400"/>
          </a:xfrm>
          <a:prstGeom prst="rect">
            <a:avLst/>
          </a:prstGeom>
          <a:solidFill>
            <a:srgbClr val="0D1F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039112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9440" y="2057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OEP 圖表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23957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ABB"/>
                </a:solidFill>
              </a:rPr>
              <a:t>視覺化呈現患者能力邊界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3017520"/>
            <a:ext cx="2651760" cy="914400"/>
          </a:xfrm>
          <a:prstGeom prst="rect">
            <a:avLst/>
          </a:prstGeom>
          <a:solidFill>
            <a:srgbClr val="0D1F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090672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80160" y="31089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患者報告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ABB"/>
                </a:solidFill>
              </a:rPr>
              <a:t>白話診斷，可列印分享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66160" y="3017520"/>
            <a:ext cx="2651760" cy="914400"/>
          </a:xfrm>
          <a:prstGeom prst="rect">
            <a:avLst/>
          </a:prstGeom>
          <a:solidFill>
            <a:srgbClr val="0D1F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3090672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114800" y="31089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文獻連結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ABB"/>
                </a:solidFill>
              </a:rPr>
              <a:t>每個數值附 evidence badge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0" y="3017520"/>
            <a:ext cx="2651760" cy="914400"/>
          </a:xfrm>
          <a:prstGeom prst="rect">
            <a:avLst/>
          </a:prstGeom>
          <a:solidFill>
            <a:srgbClr val="0D1F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090672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49440" y="31089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中英雙語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ABB"/>
                </a:solidFill>
              </a:rPr>
              <a:t>切換鍵一鍵轉換語言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7D94"/>
                </a:solidFill>
              </a:rPr>
              <a:t>由驗光師開發，為診間而生。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5｜工具演示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輸入介面：8 個區塊，5 分鐘完成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199339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60120"/>
            <a:ext cx="199339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6012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👤 患者基本資料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1399032"/>
            <a:ext cx="186537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</a:rPr>
              <a:t>年齡、工作距離、PD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96312" y="960120"/>
            <a:ext cx="199339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91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960120"/>
            <a:ext cx="1993392" cy="38404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96012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👁️ 屈光資料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60320" y="1399032"/>
            <a:ext cx="186537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</a:rPr>
              <a:t>球面、柱面、軸度（雙眼）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81144" y="960120"/>
            <a:ext cx="199339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1C4E8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81144" y="960120"/>
            <a:ext cx="1993392" cy="38404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96012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↔️ 斜位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45152" y="1399032"/>
            <a:ext cx="186537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</a:rPr>
              <a:t>遠距 / 近距斜位（exo+/eso-）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65976" y="960120"/>
            <a:ext cx="199339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65976" y="960120"/>
            <a:ext cx="1993392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9984" y="96012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🔁 融像儲備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29984" y="1399032"/>
            <a:ext cx="186537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</a:rPr>
              <a:t>近距 / 遠距 BI、BO（Blur/Break/Recovery）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2468880"/>
            <a:ext cx="199339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EA6A4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2468880"/>
            <a:ext cx="1993392" cy="384048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46888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📏 NPC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" y="2907792"/>
            <a:ext cx="186537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</a:rPr>
              <a:t>破裂點（cm）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96312" y="2468880"/>
            <a:ext cx="199339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96312" y="2468880"/>
            <a:ext cx="1993392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246888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🧠 調節系統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560320" y="2907792"/>
            <a:ext cx="186537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</a:rPr>
              <a:t>AA、NRA、PRA、MEM、Flipper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81144" y="2468880"/>
            <a:ext cx="199339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81144" y="2468880"/>
            <a:ext cx="199339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45152" y="246888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🔢 AC/A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45152" y="2907792"/>
            <a:ext cx="186537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</a:rPr>
              <a:t>Gradient 法結果輸入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65976" y="2468880"/>
            <a:ext cx="199339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91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65976" y="2468880"/>
            <a:ext cx="1993392" cy="38404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9984" y="246888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📝 CISS 問卷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729984" y="2907792"/>
            <a:ext cx="186537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</a:rPr>
              <a:t>內建 15 題，自動計算總分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1480" y="4645152"/>
            <a:ext cx="8321040" cy="320040"/>
          </a:xfrm>
          <a:prstGeom prst="rect">
            <a:avLst/>
          </a:prstGeom>
          <a:solidFill>
            <a:srgbClr val="EFF6FF"/>
          </a:solidFill>
          <a:ln w="6350">
            <a:solidFill>
              <a:srgbClr val="0091D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91D5"/>
                </a:solidFill>
              </a:rPr>
              <a:t>未填欄位自動標示資料品質等級：🔴 關鍵缺漏　🟡 建議補充　⚪ 可選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5｜工具演示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OEP 圖表：視覺化的能力邊界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4389120" cy="3840480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097280"/>
            <a:ext cx="0" cy="32004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4297680"/>
            <a:ext cx="34747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286000"/>
            <a:ext cx="5669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調節量（D）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0" y="4389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集散量（Δ）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97280" y="1828800"/>
            <a:ext cx="34747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6916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AA 天花板（實測）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89120" y="1097280"/>
            <a:ext cx="0" cy="3200400"/>
          </a:xfrm>
          <a:prstGeom prst="line">
            <a:avLst/>
          </a:prstGeom>
          <a:noFill/>
          <a:ln w="25400">
            <a:solidFill>
              <a:srgbClr val="009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114300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91D5"/>
                </a:solidFill>
              </a:rPr>
              <a:t>BO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371600" y="1097280"/>
            <a:ext cx="0" cy="320040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89888" y="114300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BI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371600" y="1828800"/>
            <a:ext cx="3017520" cy="2468880"/>
          </a:xfrm>
          <a:prstGeom prst="rect">
            <a:avLst/>
          </a:prstGeom>
          <a:solidFill>
            <a:srgbClr val="DCFCE7">
              <a:alpha val="70000"/>
            </a:srgbClr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27432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✅ 舒適可用區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06040" y="2971800"/>
            <a:ext cx="182880" cy="182880"/>
          </a:xfrm>
          <a:prstGeom prst="ellipse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29443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6A47"/>
                </a:solidFill>
              </a:rPr>
              <a:t>需求點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74920" y="1463040"/>
            <a:ext cx="347472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14173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AA 天花板（必用實測值）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74920" y="1938528"/>
            <a:ext cx="347472" cy="20116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89280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BO 邊界（聚合儲備）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74920" y="2414016"/>
            <a:ext cx="34747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236829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BI 邊界（散開儲備）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74920" y="2889504"/>
            <a:ext cx="347472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284378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舒適雙眼視覺區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74920" y="3364992"/>
            <a:ext cx="347472" cy="201168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33192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工作距離需求點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83480" y="3767328"/>
            <a:ext cx="370332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38221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⚠️  重要提醒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41148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OEP 天花板必須用「實測 AA」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用公式估算會漏診調節不足（AI）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5｜工具演示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ZCSBV：個人化的舒適視覺區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Zone of Clear Single Binocular Vision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4572000" cy="3566160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645920"/>
            <a:ext cx="3200400" cy="2377440"/>
          </a:xfrm>
          <a:prstGeom prst="rect">
            <a:avLst/>
          </a:prstGeom>
          <a:solidFill>
            <a:srgbClr val="DBEAFE">
              <a:alpha val="80000"/>
            </a:srgbClr>
          </a:solidFill>
          <a:ln w="19050">
            <a:solidFill>
              <a:srgbClr val="00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468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1D5"/>
                </a:solidFill>
              </a:rPr>
              <a:t>ZCSBV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91D5"/>
                </a:solidFill>
              </a:rPr>
              <a:t>（清楚雙眼視覺區）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1371600"/>
            <a:ext cx="3657600" cy="2286000"/>
          </a:xfrm>
          <a:prstGeom prst="line">
            <a:avLst/>
          </a:prstGeom>
          <a:noFill/>
          <a:ln w="25400">
            <a:solidFill>
              <a:srgbClr val="EA6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3566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6A47"/>
                </a:solidFill>
              </a:rPr>
              <a:t>需求線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60320" y="2651760"/>
            <a:ext cx="201168" cy="201168"/>
          </a:xfrm>
          <a:prstGeom prst="ellipse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234440"/>
            <a:ext cx="0" cy="32918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526280"/>
            <a:ext cx="3657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560320"/>
            <a:ext cx="411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調節（D）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286000" y="4617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集散（Δ）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257800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4E80"/>
                </a:solidFill>
              </a:rPr>
              <a:t>4 大臨床應用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257800" y="1609344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6093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79008" y="15361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配鏡確認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79008" y="188366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</a:rPr>
              <a:t>新處方後需求點是否仍在舒適帶中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57800" y="2450592"/>
            <a:ext cx="438912" cy="438912"/>
          </a:xfrm>
          <a:prstGeom prst="ellipse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24505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79008" y="23774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1D5"/>
                </a:solidFill>
              </a:rPr>
              <a:t>ADD 評估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79008" y="272491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</a:rPr>
              <a:t>加入 ADD 後需求點移動的預測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57800" y="3291840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3291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79008" y="32186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稜鏡評估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79008" y="35661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</a:rPr>
              <a:t>稜鏡補正後圖形變化的預覽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57800" y="4133088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41330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779008" y="405993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治療追蹤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79008" y="440740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</a:rPr>
              <a:t>訓練前後圖形比較，量化進步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這張圖可以列印給患者——讓他們看懂自己的眼睛狀況。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5｜工具演示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患者報告：讓診斷說給家長聽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"/>
            <a:ext cx="2697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1D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87552"/>
            <a:ext cx="2697480" cy="74980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👨‍👩‍👧  患者 / 家長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8FF"/>
                </a:solidFill>
              </a:rPr>
              <a:t>白話故事版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健康摘要：白話說明問題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症狀關聯：為什麼不舒服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圖表展示（ZCSBV）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明確下一步行動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987552"/>
            <a:ext cx="2697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987552"/>
            <a:ext cx="269748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005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🔬  驗光師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1371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8FF"/>
                </a:solidFill>
              </a:rPr>
              <a:t>臨床數據版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18288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完整測試數值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22860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Sheard / Percival 計算結果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27432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稜鏡計算量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32004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處置方向建議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0760" y="987552"/>
            <a:ext cx="2697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987552"/>
            <a:ext cx="269748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005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📚  研究 / 轉介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1371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8FF"/>
                </a:solidFill>
              </a:rPr>
              <a:t>文獻引用版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18288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每項數值的 evidence grade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72200" y="22860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引用文獻（APA格式）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72200" y="27432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診斷依據說明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72200" y="32004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可匯出 PDF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4315968"/>
            <a:ext cx="832104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389120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06"/>
                </a:solidFill>
              </a:rPr>
              <a:t>🎭  角色扮演（3+3 分鐘）：一人扮患者，一人用報告解釋 CI 診斷，互換一次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6｜實戰落地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分鐘篩查流程：明天就能用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8660" y="1600200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987552"/>
            <a:ext cx="7498080" cy="694944"/>
          </a:xfrm>
          <a:prstGeom prst="rect">
            <a:avLst/>
          </a:prstGeom>
          <a:solidFill>
            <a:srgbClr val="F5F7FA"/>
          </a:solidFill>
          <a:ln w="10160">
            <a:solidFill>
              <a:srgbClr val="0091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1097280"/>
            <a:ext cx="804672" cy="45720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1097280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07008" y="104241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1D5"/>
                </a:solidFill>
              </a:rPr>
              <a:t>CISS 問卷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07008" y="1353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候診時 QR code 填寫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0" y="11521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1E2E"/>
                </a:solidFill>
              </a:rPr>
              <a:t>→ ≥ 21 分 → 完整評估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8660" y="2377440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1764792"/>
            <a:ext cx="7498080" cy="694944"/>
          </a:xfrm>
          <a:prstGeom prst="rect">
            <a:avLst/>
          </a:prstGeom>
          <a:solidFill>
            <a:srgbClr val="F5F7FA"/>
          </a:solidFill>
          <a:ln w="10160">
            <a:solidFill>
              <a:srgbClr val="1C4E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1874520"/>
            <a:ext cx="804672" cy="45720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1874520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07008" y="181965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4E80"/>
                </a:solidFill>
              </a:rPr>
              <a:t>遠近斜位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07008" y="2130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von Graefe 或 Cover test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0" y="19293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1E2E"/>
                </a:solidFill>
              </a:rPr>
              <a:t>→ &gt; 9Δ exo near → 加測 NPC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65176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660" y="3154680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" y="2542032"/>
            <a:ext cx="7498080" cy="694944"/>
          </a:xfrm>
          <a:prstGeom prst="rect">
            <a:avLst/>
          </a:prstGeom>
          <a:solidFill>
            <a:srgbClr val="F5F7FA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2651760"/>
            <a:ext cx="804672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2651760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分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07008" y="259689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NPC × 3 次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07008" y="2907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取後兩次平均或最差值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40480" y="27066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1E2E"/>
                </a:solidFill>
              </a:rPr>
              <a:t>→ &gt; 5cm → 高度懷疑 CI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3429000"/>
            <a:ext cx="502920" cy="502920"/>
          </a:xfrm>
          <a:prstGeom prst="ellipse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08660" y="3931920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7280" y="3319272"/>
            <a:ext cx="7498080" cy="694944"/>
          </a:xfrm>
          <a:prstGeom prst="rect">
            <a:avLst/>
          </a:prstGeom>
          <a:solidFill>
            <a:srgbClr val="F5F7FA"/>
          </a:solidFill>
          <a:ln w="10160">
            <a:solidFill>
              <a:srgbClr val="EA6A4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0" y="3429000"/>
            <a:ext cx="804672" cy="457200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0" y="3429000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分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207008" y="337413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6A47"/>
                </a:solidFill>
              </a:rPr>
              <a:t>近距 BO Break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07008" y="3685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prism bar 或旋轉稜鏡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840480" y="34838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1E2E"/>
                </a:solidFill>
              </a:rPr>
              <a:t>→ &lt; 15Δ → Sheard 計算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42062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97280" y="4096512"/>
            <a:ext cx="7498080" cy="694944"/>
          </a:xfrm>
          <a:prstGeom prst="rect">
            <a:avLst/>
          </a:prstGeom>
          <a:solidFill>
            <a:srgbClr val="F5F7FA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0" y="4206240"/>
            <a:ext cx="804672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0" y="4206240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分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207008" y="415137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NRA / PRA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207008" y="44622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±0.25D trial lens 加減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840480" y="42611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1E2E"/>
                </a:solidFill>
              </a:rPr>
              <a:t>→ PRA &lt; −1.50D → AI 懷疑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solidFill>
            <a:srgbClr val="F0FDF4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" y="4864608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所有正常 → 記錄，下次複診比較。任一異常 → 輸入 MYOWNVISION 做完整分析。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6｜實戰落地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常見 NG 場景：我踩過的五個坑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87552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87552"/>
            <a:ext cx="77724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0241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</a:rPr>
              <a:t>AA 沒量，用公式估算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13533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⚠️ OEP 天花板虛報，漏診調節不足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34840" y="1124712"/>
            <a:ext cx="0" cy="45720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033272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✅ 對策：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0" y="103327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有症狀年輕患者 → 必測實測 AA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783080"/>
            <a:ext cx="77724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783080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181965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</a:rPr>
              <a:t>NPC 只測一次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⚠️ 第一次通常最好，不代表真實能力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34840" y="1920240"/>
            <a:ext cx="0" cy="45720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18288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✅ 對策：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18288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連測三次，取後兩次或最差值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578608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578608"/>
            <a:ext cx="77724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578608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25880" y="261518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</a:rPr>
              <a:t>斜位正常就停手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25880" y="29443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⚠️ 代償性斜位者仍可能 BO 不足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34840" y="2715768"/>
            <a:ext cx="0" cy="45720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262432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✅ 對策：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0" y="262432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斜位 + 融像儲備一定要成對測量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374136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374136"/>
            <a:ext cx="77724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374136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25880" y="34107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</a:rPr>
              <a:t>只看 Break，不記 Recovery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25880" y="37398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⚠️ Recovery 差 &gt; Break 差 → 更強症狀預測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34840" y="3511296"/>
            <a:ext cx="0" cy="45720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26280" y="341985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✅ 對策：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0" y="341985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記錄格式：Blur / Break / Recovery（空白也記）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4169664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169664"/>
            <a:ext cx="77724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169664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325880" y="4206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</a:rPr>
              <a:t>用術語跟患者解釋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325880" y="45354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⚠️ 患者聽不懂 → 不遵從 → 療效差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434840" y="4306824"/>
            <a:ext cx="0" cy="45720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26280" y="4215384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✅ 對策：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03520" y="4215384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用 MYOWNVISION 白話報告，只講三件事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6｜實戰落地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如何跟患者說清楚（不用術語）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143000"/>
          </a:xfrm>
          <a:prstGeom prst="rect">
            <a:avLst/>
          </a:prstGeom>
          <a:solidFill>
            <a:srgbClr val="F5F7FA"/>
          </a:solidFill>
          <a:ln w="6350">
            <a:solidFill>
              <a:srgbClr val="EA6A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164592" cy="1143000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05840"/>
            <a:ext cx="914400" cy="320040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005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外隱斜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716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❌ 前：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53312" y="1371600"/>
            <a:ext cx="7178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你有 10 個稜鏡度的外隱斜，Sheard 準則不通過。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167335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</a:rPr>
              <a:t>✅ 後：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353312" y="1673352"/>
            <a:ext cx="7178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</a:rPr>
              <a:t>你的兩隻眼睛有往外分開的傾向，大腦一直在用力把它們拉回來，用久了當然累。就像一直緊握拳頭——力氣遲早撐不住。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21992"/>
            <a:ext cx="8229600" cy="1143000"/>
          </a:xfrm>
          <a:prstGeom prst="rect">
            <a:avLst/>
          </a:prstGeom>
          <a:solidFill>
            <a:srgbClr val="F5F7FA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221992"/>
            <a:ext cx="164592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267712"/>
            <a:ext cx="91440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2677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調節不足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263347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❌ 前：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53312" y="2633472"/>
            <a:ext cx="7178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你的 AA 低於 Hofstetter 均值 3D，PRA 不足。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293522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</a:rPr>
              <a:t>✅ 後：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353312" y="2935224"/>
            <a:ext cx="7178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</a:rPr>
              <a:t>你眼睛的對焦肌肉有點提早退步了。正常 30 歲可以對到 40 公分，你現在可能只到 50 公分就模糊。你的電腦螢幕就在那個臨界點上。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83864"/>
            <a:ext cx="8229600" cy="1143000"/>
          </a:xfrm>
          <a:prstGeom prst="rect">
            <a:avLst/>
          </a:prstGeom>
          <a:solidFill>
            <a:srgbClr val="F5F7FA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83864"/>
            <a:ext cx="16459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529584"/>
            <a:ext cx="91440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52958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視覺訓練的時間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389534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❌ 前：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53312" y="3895344"/>
            <a:ext cx="7178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視覺訓練需要 6–12 週才有效果。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" y="419709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</a:rPr>
              <a:t>✅ 後：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353312" y="4197096"/>
            <a:ext cx="7178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</a:rPr>
              <a:t>你去健身房練二頭肌，第一週看不太出來，六週後就有感覺了。眼睛的肌肉訓練也一樣——持續才有效。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solidFill>
            <a:srgbClr val="EFF6FF"/>
          </a:solidFill>
          <a:ln w="6350">
            <a:solidFill>
              <a:srgbClr val="0091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773168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91D5"/>
                </a:solidFill>
              </a:rPr>
              <a:t>原則：用身體比喻 · 說「為什麼不舒服」而不只是「什麼異常」· 給明確的下一步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6｜實戰落地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你的雙眼視覺升級路線圖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260604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60120"/>
            <a:ext cx="260604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</a:rPr>
              <a:t>Week 1–2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建立習慣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8 分鐘篩查加入有症狀患者流程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印出 Morgan Norms 速查表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用 MYOWNVISION 輸入 3 位真實患者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401568"/>
            <a:ext cx="242316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4930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🎯 第一位患者得到新診斷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960120"/>
            <a:ext cx="260604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1D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960120"/>
            <a:ext cx="2606040" cy="77724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005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</a:rPr>
              <a:t>Month 1–2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13258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建立信心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46120" y="187452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常規做雙眼篩查（近距症狀者）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46120" y="237744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用白話報告跟家長解釋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46120" y="288036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追蹤第一批 CI/AI 患者 CISS 分數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3401568"/>
            <a:ext cx="2423160" cy="4572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34930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1D5"/>
                </a:solidFill>
              </a:rPr>
              <a:t>🎯 成功說服一位患者做視覺訓練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97880" y="960120"/>
            <a:ext cx="260604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4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97880" y="960120"/>
            <a:ext cx="2606040" cy="77724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1005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</a:rPr>
              <a:t>Month 3+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13258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建立聲譽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89320" y="187452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建立「雙眼機能評估特診」項目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89320" y="237744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成為診所的雙眼視覺顧問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89320" y="288036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因評估獲得患者轉介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89320" y="3401568"/>
            <a:ext cx="2423160" cy="4572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34930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4E80"/>
                </a:solidFill>
              </a:rPr>
              <a:t>🎯 因口碑獲得轉介新患者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4773168"/>
            <a:ext cx="8321040" cy="320040"/>
          </a:xfrm>
          <a:prstGeom prst="rect">
            <a:avLst/>
          </a:prstGeom>
          <a:solidFill>
            <a:srgbClr val="F0FDF4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79145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✍️  現在：拿出一張紙，寫下你明天要做的第一個改變。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60F1A"/>
          </a:solidFill>
          <a:ln w="12700">
            <a:solidFill>
              <a:srgbClr val="06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你已經把它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6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串起來了。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2121408"/>
            <a:ext cx="786384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40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DC"/>
                </a:solidFill>
              </a:rPr>
              <a:t>每一位說「我度數對了但還是不舒服」的患者，
</a:t>
            </a:r>
            <a:pPr indent="0" marL="0">
              <a:buNone/>
            </a:pPr>
            <a:r>
              <a:rPr lang="en-US" sz="1600" b="1" dirty="0">
                <a:solidFill>
                  <a:srgbClr val="A8C4DC"/>
                </a:solidFill>
              </a:rPr>
              <a:t>都在等你用這把鑰匙開門。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D94"/>
                </a:solidFill>
              </a:rPr>
              <a:t>🌐  myownvision.com（工具）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6301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D94"/>
                </a:solidFill>
              </a:rPr>
              <a:t>📖  Scheiman &amp; Wick, Clinical Management of Binocular Vision (4th ed.)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9227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D94"/>
                </a:solidFill>
              </a:rPr>
              <a:t>📊  Morgan 1944, Wajuihian 2018, CITT 2008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4187952"/>
            <a:ext cx="3657600" cy="80467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42336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李錫彥 驗光師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45079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D94"/>
                </a:solidFill>
              </a:rPr>
              <a:t>自己的眼鏡・自己的驗光所（三峽）｜uncle-glasses.net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雙眼機能分析：你學過，但你用了嗎？</dc:title>
  <dc:subject>PptxGenJS Presentation</dc:subject>
  <dc:creator>李錫彥</dc:creator>
  <cp:lastModifiedBy>李錫彥</cp:lastModifiedBy>
  <cp:revision>1</cp:revision>
  <dcterms:created xsi:type="dcterms:W3CDTF">2026-04-16T12:02:23Z</dcterms:created>
  <dcterms:modified xsi:type="dcterms:W3CDTF">2026-04-16T12:02:23Z</dcterms:modified>
</cp:coreProperties>
</file>